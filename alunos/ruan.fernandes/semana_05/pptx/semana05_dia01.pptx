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817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 ·  MÓDULO 1 — MODELAGEM DE DADOS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05 · Dia 01  —  Terça · 19h–22h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aprofundado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23042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· DataFrames · loc · iloc · query · primeiros gráficos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2011680" cy="27432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&amp; DataFrames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2926080"/>
            <a:ext cx="2011680" cy="274320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65176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· iloc · query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2926080"/>
            <a:ext cx="2011680" cy="274320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0060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isin() · between()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49440" y="2926080"/>
            <a:ext cx="2011680" cy="274320"/>
          </a:xfrm>
          <a:prstGeom prst="lin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949440" y="2926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Primeiros gráficos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  ·  Remota  ·  Turma T2 Noturno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237744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fazemos hoje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Terça · 19h00 – 22h00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822960" cy="292608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19h00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0" y="1554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matplotlib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179222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· Célula 1 de imports · regra: calculou → plotou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231136"/>
            <a:ext cx="822960" cy="292608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11480" y="22311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19h20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22311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&amp; DataFrames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468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· índices · set_index · reset_index · tipos → category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907792"/>
            <a:ext cx="822960" cy="292608"/>
          </a:xfrm>
          <a:prstGeom prst="lin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11480" y="29077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20h30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71600" y="29077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Intervalo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31455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— confirme dtype das colunas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584448"/>
            <a:ext cx="822960" cy="292608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11480" y="35844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20h40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71600" y="35844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· iloc · query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3822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por posição, rótulo e expressão + isin() e between()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261104"/>
            <a:ext cx="822960" cy="292608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11480" y="42611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21h40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71600" y="42611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+ Commit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71600" y="449884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headcount · 2 gráficos · push no GitHub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· Visualização de Dados e BI  ·  Semana 05 · Dia 01 · Terça  ·  T2 Noturno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vs DataFrame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Entendendo a estrutura antes de selecionar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48640" y="1527048"/>
            <a:ext cx="3749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 —  1 dimensão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df["Salario"]  →  Series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índice + valores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dtype: float64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shape: (1000,)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Operações: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.mean()  .median()  .std()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.value_counts()  .head()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2040" y="1527048"/>
            <a:ext cx="3749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 —  2 dimensões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8745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df[["Nome","Salario"]]  →  DF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índice linhas + colunas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dtypes por coluna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shape: (1000, 2)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Operações: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.loc[]  .iloc[]  .query()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.groupby()  .merge()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· Visualização de Dados e BI  ·  Semana 05 · Dia 01 · Terça  ·  T2 Noturno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 — o endereço de cada linha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RangeIndex · set_index · reset_index · comportamento após filtros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21208" y="1527048"/>
            <a:ext cx="4718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aula_01.ipynb — índice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4718304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Índice padrão (RangeIndex)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print(df.index)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RangeIndex(start=0, stop=1000, step=1)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set_index — ID vira o endereço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df_idx = df.set_index("ID_Funcionario")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print(df_idx.loc[3]["Nome"])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Srta. Mariana Cunha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Após filtro — NÃO começa em 0!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ativos = df[df["Status"] == "Ativo"]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print(ativos.index[0])  # → 1, não 0!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reset_index — volta ao numérico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df_volta = df_idx.reset_index()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32120" y="1508760"/>
            <a:ext cx="54864" cy="694944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696712" y="1581912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Filtros preservam o índice 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96712" y="1828800"/>
            <a:ext cx="2944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preservam o índice original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32120" y="2350008"/>
            <a:ext cx="54864" cy="694944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96712" y="24231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iloc[0] para primeiro 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96712" y="2670048"/>
            <a:ext cx="2944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iloc[0] para primeiro elemento após filtros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32120" y="3191256"/>
            <a:ext cx="54864" cy="694944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696712" y="3264408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reset_index() antes de 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96712" y="3511296"/>
            <a:ext cx="2944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reset_index() antes de concatenar DataFrames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32120" y="4032504"/>
            <a:ext cx="54864" cy="694944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696712" y="4105656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set_index habilita acesso 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96712" y="4352544"/>
            <a:ext cx="2944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set_index habilita acesso semântico: df_idx.loc[42]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· Visualização de Dados e BI  ·  Semana 05 · Dia 01 · Terça  ·  T2 Noturno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iloc · loc · query — quando usar cada um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métodos, três propósitos. Usar o errado não gera erro — gera dado errado.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02920" y="1527048"/>
            <a:ext cx="2606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iloc — posição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1938528"/>
            <a:ext cx="24688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df.iloc[2:5, 1:4]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df.iloc[-1]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df.iloc[[0,99,999]]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43814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363931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Preview, amostragem,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primeiro/último após filtros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02152" y="1938528"/>
            <a:ext cx="24688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df.loc[0, "Nome"]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df["Dept"]=="TI",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["Nome","Cargo"]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343814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29000" y="363931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semânticos,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colunas por condição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28232" y="1938528"/>
            <a:ext cx="24688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 = 8000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df.query(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"Salario &gt; @sal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Status=='Ativo'"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343814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55080" y="363931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legíveis,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parametrizáveis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· Visualização de Dados e BI  ·  Semana 05 · Dia 01 · Terça  ·  T2 Noturno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isin() · between() · primeiros gráficos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expressivos — e a regra: calculou → plotou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21208" y="1527048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isin() — filtro por lista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398678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liders = df.loc[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df["Cargo"].isin(["Gerente","Coordenador"])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1208" y="3017520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between() — intervalo incluindo extremos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1208" y="3236976"/>
            <a:ext cx="398678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faixa = df.loc[df["Idade"].between(30, 45)]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print(faixa["Salario"].mean())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83480" y="15819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funções desta semana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02352" y="19568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plt.hist(df["Salario"], bins=10)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02352" y="21945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valores numéricos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02352" y="25603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plt.bar(x, y)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02352" y="279806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categorias — barras verticais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02352" y="31638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plt.barh(x, y)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02352" y="34015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horizontais (rótulos longos)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02352" y="37673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plt.pie(vals, autopct="%1.1f%%")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02352" y="40050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de um todo — proporções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83480" y="44805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termina com plt.show()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· Visualização de Dados e BI  ·  Semana 05 · Dia 01 · Terça  ·  T2 Noturno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headcount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Gestora de RH precisa dos dados para reunião de diretoria amanhã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329184" cy="329184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160934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Carregue o dataset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" y="18470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base_rh.csv · sep=; · encoding=cp1252 · decimal=,  →  converta datas e colunas para category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450592"/>
            <a:ext cx="329184" cy="329184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11480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0392" y="24323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392" y="26700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Exiba posições 10 a 19 (Nome, Dept, Cargo, Salario). Quantos departamentos únicos? Responda em Markdown.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273552"/>
            <a:ext cx="329184" cy="329184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1148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0392" y="32552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+ isin()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0392" y="34930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Ativos do TI com Cargo Gerente ou Coordenador. Exiba Nome, Cargo, Salario, Data_Admissao.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4096512"/>
            <a:ext cx="329184" cy="329184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11480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" y="40782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query() + variável @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0392" y="4315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Veteranos ativos (50–65 anos). Imprima contagem + faixa salarial (min e max).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627632"/>
            <a:ext cx="329184" cy="329184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66344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02352" y="160934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— nova coluna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02352" y="18470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Faixa_Salarial: Júnior ≤4k · Pleno 4k–8k · Sênior 8k–12k · Especialista &gt;12k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450592"/>
            <a:ext cx="329184" cy="329184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663440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02352" y="24323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Gráfico 1 — barh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02352" y="26700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médio por departamento. groupby + plt.barh() + título + rótulos.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273552"/>
            <a:ext cx="329184" cy="329184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66344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02352" y="32552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Gráfico 2 — pizza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02352" y="34930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Faixa_Salarial. value_counts() + plt.pie() + autopct.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4096512"/>
            <a:ext cx="329184" cy="329184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663440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02352" y="40782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02352" y="4315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alunos/seunome/   →   commit 'semana 05 - dia 01: ...'   →   push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· Visualização de Dados e BI  ·  Semana 05 · Dia 01 · Terça  ·  T2 Noturno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COMUNS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vai dar errado — e como resolver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6 erros mais frequentes desta aula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54864" cy="96012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76072" y="160934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KeyError: 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6072" y="18288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df_filtrado.loc[0] — índice 0 foi removido pelo filtro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6072" y="21945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iloc[0] ou reset_index() antes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00600" y="1554480"/>
            <a:ext cx="54864" cy="96012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965192" y="160934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truth value of a Series is ambiguous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65192" y="18288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Usou 'and' em vez de '&amp;' entre condições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65192" y="21945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&amp; e parênteses em cada condição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670048"/>
            <a:ext cx="54864" cy="96012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76072" y="27249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SettingWithCopyWarning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6072" y="29443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df[mask]['col'] = val modifica uma cópia silenciosa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76072" y="33101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df.loc[mask, 'col'] = val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2670048"/>
            <a:ext cx="54864" cy="96012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965192" y="27249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UndefinedVariableError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65192" y="29443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Variável externa sem @ na string do query()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65192" y="33101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@nome_variavel dentro da string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3785616"/>
            <a:ext cx="54864" cy="96012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76072" y="38404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Gráfico em branco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6072" y="40599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plt.show() faltando ou Célula 1 não executada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76072" y="44256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Re-executar Célula 1 + adicionar plt.show()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00600" y="3785616"/>
            <a:ext cx="54864" cy="96012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965192" y="38404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 no plt.bar()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65192" y="40599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Passou DataFrame (colchetes duplos) em vez de Series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65192" y="44256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df['coluna'], não df[['coluna']]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· Visualização de Dados e BI  ·  Semana 05 · Dia 01 · Terça  ·  T2 Noturno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gráficos revelam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Calculou → Plotou → Interpretou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2788920" cy="36576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21208" y="160020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 — Salários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" y="1874520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Maioria entre R$ 6k–10k. Gestor identifica em 2 segundos o que levaria minutos na tabela de 1.000 linhas.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1508760"/>
            <a:ext cx="2788920" cy="36576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447288" y="160020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— Status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47288" y="1874520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60,3% Ativo · 39,7% Inativo. A barra responde a pergunta sobre turnover sem cálculo mental.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63640" y="1508760"/>
            <a:ext cx="2788920" cy="36576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373368" y="160020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barh — Departamentos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73368" y="1874520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+ RH = 36% do quadro. Barras horizontais evitam rótulos cortados.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108960"/>
            <a:ext cx="2788920" cy="36576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21208" y="320040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 — Idades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" y="3474720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35–45 anos. Dado estratégico para planejar sucessão nos próximos 10 anos.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3108960"/>
            <a:ext cx="2788920" cy="36576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447288" y="320040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— Salário por Cargo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47288" y="3474720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2,1x acima de Operador. Pode indicar compressão salarial na região.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63640" y="3108960"/>
            <a:ext cx="2788920" cy="36576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373368" y="320040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— Estado Civil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73368" y="3474720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Casados + Solteiros = 73%. Influencia políticas de benefícios: plano família, auxílio creche.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· Visualização de Dados e BI  ·  Semana 05 · Dia 01 · Terça  ·  T2 Noturno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antes de fechar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8229600" cy="16459"/>
          </a:xfrm>
          <a:prstGeom prst="lin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fizemos hoje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Series vs DataFrame — tipos, shape, operações específicas de cada 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45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Índice: RangeIndex, set_index, reset_index, comportamento após filtros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Tipos: conversão para category — economia de memória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67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iloc — posição numérica · loc — rótulo e condição booleana (&amp;, |, ~)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780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query() com @variável · isin() para listas · between() para intervalos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plt.hist() · plt.bar() · plt.barh() · plt.pie() — calculou, plotou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163824"/>
            <a:ext cx="8229600" cy="16459"/>
          </a:xfrm>
          <a:prstGeom prst="lin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0292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Quinta · Dia 02  →  groupby avançado · merge · pivot_table · barras agrupadas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703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alunos/seunome/   ·   commit 'semana 05 - dia 01: ...'   ·   push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1543</Words>
  <Application>Microsoft Office PowerPoint</Application>
  <PresentationFormat>Apresentação na tela (16:9)</PresentationFormat>
  <Paragraphs>210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Claudio Neves</cp:lastModifiedBy>
  <cp:revision>2</cp:revision>
  <dcterms:created xsi:type="dcterms:W3CDTF">2026-05-10T11:39:02Z</dcterms:created>
  <dcterms:modified xsi:type="dcterms:W3CDTF">2026-05-10T11:46:07Z</dcterms:modified>
</cp:coreProperties>
</file>